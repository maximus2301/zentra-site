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8" d="100"/>
          <a:sy n="88" d="100"/>
        </p:scale>
        <p:origin x="381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A8FF4-CA77-4BE2-A679-9C935AF8C966}" type="datetimeFigureOut">
              <a:rPr lang="en-IN" smtClean="0"/>
              <a:t>2026-03-05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F218C-F183-43A3-B635-936C85CD3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35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0263A-E7A5-4596-9992-7BFD5CAEFD81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20D8-A80C-45ED-B41A-941F6D3889D7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6A89D-6385-4219-8092-BA0E55BE23AB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2FED-3C61-460C-9D27-244EC163C33C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AA52-3429-4BB6-8ADF-42C8F76BEC02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51D1-0164-49E0-A757-0B774F60B20D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CA33-9D6E-48ED-844B-FCC6A9EE18F3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6856-991B-4741-8AEA-F7311C6B6C76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BCAF-D14C-4FE1-A818-5E16292D1C21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2A94-3DF7-48B1-8BD0-74E94ADE4155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0D020-24AD-4165-BB97-4FC40AF1E4C9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42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25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28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74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6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749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93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460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85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76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1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82968-5773-49F5-A4F5-ACC8CB0ABE57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@ Pankaj Bharti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18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8D8FF"/>
                </a:solidFill>
              </a:rPr>
              <a:t>India's Personal Health Records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E8FF"/>
                </a:solidFill>
              </a:rPr>
              <a:t>Built for 1.4 billion people  |  Powered by ABHA  |  Bridging India's health data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Investor Presentation  —  2026</a:t>
            </a:r>
            <a:r>
              <a:rPr lang="en-IN" sz="1400" b="0" i="0" dirty="0">
                <a:solidFill>
                  <a:srgbClr val="FFFFFF"/>
                </a:solidFill>
              </a:rPr>
              <a:t> 											Pankaj Kumar Bharti | March’2026</a:t>
            </a:r>
            <a:endParaRPr sz="1400" b="0" i="0" dirty="0">
              <a:solidFill>
                <a:srgbClr val="FFFFFF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64EB6-3BF8-D786-673B-51F3D16AF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557"/>
            <a:ext cx="2895600" cy="365125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copyright @ Pankaj Bharti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21031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of India's healthcare is delivered by unorganised clinics &amp; chemists
not connected to any digital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34440"/>
            <a:ext cx="5577840" cy="2103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of patients carry physical paper records — prescriptions, lab reports,
discharge summaries — prone to loss and damage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5577840" cy="2103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of records from small/local providers appear automatically in
ABHA / ABDM — the government's own health data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11880"/>
            <a:ext cx="5577840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7033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300M+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348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middle-class Indians are NOT primary beneficiaries of PM-JAY,
yet manage the most complex personal health record portfolios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0FF3D71-DB74-8CB7-8041-90EC3F92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C8C"/>
                </a:solidFill>
              </a:rPr>
              <a:t>$372B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Indian Healthcare
Market by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65176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C8C"/>
                </a:solidFill>
              </a:rPr>
              <a:t>300M+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Middle-class Indians
not covered by PM-JAY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265176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C8C"/>
                </a:solidFill>
              </a:rPr>
              <a:t>560M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Smartphone users
in India (2026)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371600"/>
            <a:ext cx="265176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C8C"/>
                </a:solidFill>
              </a:rPr>
              <a:t>ABHA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286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500M+ Health IDs
issued — yet no
consumer UX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Target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•  Middle-class families managing records for parents, children &amp; self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•  Chronic disease patients (diabetes, hypertension, cardiac) — 101M diabetics alone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•  Corporates / HR teams managing employee health documentation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•  Health-conscious urban millennials seeking digital health organisation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FE1D0B86-BE22-F1A2-46C7-D7B7B1A9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ABHA Gap — Our Core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C8C"/>
                </a:solidFill>
              </a:rPr>
              <a:t>What ABHA Provides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14-digit national health ID for every citizen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Links records from registered government hospitals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CGHS, ESIC, AIIMS — connected as HIPs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Open ABDM API ecosystem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500M+ IDs issued (growing)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577840" cy="5120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ABHA Misses (Our Space)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Records from 70%+ unregistered local clinics &amp; chemists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Manual / paper prescriptions &amp; lab reports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Family-level record management (ABHA is individual-only)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Consumer-grade UX — ABHA portal is bureaucratic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Offline access in low-connectivity Tier 2/3 cities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Insurance claims bridge — linking records to insurers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60320"/>
            <a:ext cx="731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GAP
=
OUR
MARKET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F561C43-50A4-D065-BC78-CA8AF6A3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Our Solution — 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0D2B55"/>
                </a:solidFill>
              </a:rPr>
              <a:t>ABHA is India's health data backbone. MedRecord is the consumer layer on 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657600" cy="4572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ABHA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Link records to your 14-digit ABHA ID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Pull records from ABDM-registered hospitals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Push captured records into national ABHA ecosystem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Become ABDM-certified HIU / 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657600" cy="4572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Capture What ABHA Misses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5146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Camera scan with OCR text extraction (ML Kit)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Gallery upload — JPG, PNG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PDF file upload and preview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Manual text entry for verbal prescriptions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657600" cy="4572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Organise &amp;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5146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Family record management — one login, all members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Categorise: Prescriptions / Lab Reports / Discharge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Full-text search across all records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Offline access — local storage, always available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30FA607-4EE9-070F-180A-455A21C5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ABHA Differentiator — Why This Is Our Moat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9144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The government builds infrastructure. Private companies build experiences on top.  UPI -&gt; PhonePe/Paytm  |  DigiLocker -&gt; Apps  |  ABHA -&gt; MedRecord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109728" cy="1737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2402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ABDM HIU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Legally pull records from the ENTIRE ABDM network — government hospitals, CGHS, ESIC, registered private chains. No competitor has done this at consumer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94560"/>
            <a:ext cx="109728" cy="1737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Capture the Informal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70% of India's healthcare is informal and invisible to ABHA. Our OCR-powered capture is the ONLY bridge between paper India and digital India.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43400"/>
            <a:ext cx="109728" cy="1737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Family Account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00600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ABHA is strictly one-ID-one-person. Families need a single pane of glass. No government solution addresses this. We own this use case.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343400"/>
            <a:ext cx="109728" cy="1737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389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Insurance &amp; Fintech Bridge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00600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Health insurers pay for fast, accurate claims. Linking records to ABHA-verified identity reduces fraud and claim processing time — a direct revenue opportunity.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4C91305-0899-D305-1E09-2278B7C7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48840" cy="5212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B2C Freemium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FFEE"/>
                </a:solidFill>
              </a:rPr>
              <a:t>Year 1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Free: 50 records, 1 family member
Pro: ₹299/mo — Unlimited + family
Family: ₹499/mo — up to 6 members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188720"/>
            <a:ext cx="2148840" cy="52120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B2B Corporate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FFEE"/>
                </a:solidFill>
              </a:rPr>
              <a:t>Year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HR teams &amp; corporates — employee health
record management &amp; wellness programmes
₹150/employee/year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1188720"/>
            <a:ext cx="2148840" cy="5212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199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Insurance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FFEE"/>
                </a:solidFill>
              </a:rPr>
              <a:t>Year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9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Revenue share with health insurers
for claims acceleration &amp; fraud reduction
using ABHA-verified record bundles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1188720"/>
            <a:ext cx="2148840" cy="5212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19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Diagnostic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FFEE"/>
                </a:solidFill>
              </a:rPr>
              <a:t>Year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Labs pay to receive digitised records
and appear as preferred scan destinations
in the 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188720"/>
            <a:ext cx="2148840" cy="5212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Telemedicine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FFEE"/>
                </a:solidFill>
              </a:rPr>
              <a:t>Year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In-app doctor consultations with
full record context. Commission per
consultation or subscription bundle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CA5DFDFE-4031-BEFC-729F-221D10C1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15468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20440" y="1097280"/>
            <a:ext cx="1600200" cy="5943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11556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ABHA
(Govt)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097280"/>
            <a:ext cx="1600200" cy="5943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11556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HealthifyMe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1097280"/>
            <a:ext cx="1783080" cy="5943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111556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Practo
Health Vault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097280"/>
            <a:ext cx="2057400" cy="59436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111556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MedRecord
(Us)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37360"/>
            <a:ext cx="3154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181051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ABHA ID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1737360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84448" y="181051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Native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1737360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30368" y="181051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737360"/>
            <a:ext cx="1783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76288" y="181051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Partial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1737360"/>
            <a:ext cx="2057400" cy="54864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18105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Deep + HIU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313432"/>
            <a:ext cx="315468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8" y="238658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Captures Informal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2313432"/>
            <a:ext cx="160020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84448" y="2386584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2313432"/>
            <a:ext cx="160020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30368" y="2386584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2313432"/>
            <a:ext cx="178308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76288" y="2386584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2313432"/>
            <a:ext cx="2057400" cy="54864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87968" y="2386584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Yes (OCR)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889504"/>
            <a:ext cx="3154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" y="2962656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Family 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889504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84448" y="296265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66360" y="2889504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30368" y="296265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80" y="2889504"/>
            <a:ext cx="1783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76288" y="2962656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23960" y="2889504"/>
            <a:ext cx="2057400" cy="54864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87968" y="296265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465576"/>
            <a:ext cx="315468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8328" y="353872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Offline Access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3465576"/>
            <a:ext cx="160020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84448" y="3538728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66360" y="3465576"/>
            <a:ext cx="160020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30368" y="3538728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3465576"/>
            <a:ext cx="178308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76288" y="3538728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60" y="3465576"/>
            <a:ext cx="2057400" cy="54864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87968" y="3538728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041648"/>
            <a:ext cx="3154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8328" y="411480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Insurance Bridge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40" y="4041648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84448" y="4114800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66360" y="4041648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30368" y="4114800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4041648"/>
            <a:ext cx="1783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76288" y="411480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23960" y="4041648"/>
            <a:ext cx="2057400" cy="54864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87968" y="4114800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Yes (planned)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617720"/>
            <a:ext cx="315468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8328" y="469087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B2B / Corporate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20440" y="4617720"/>
            <a:ext cx="160020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584448" y="469087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66360" y="4617720"/>
            <a:ext cx="160020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30368" y="469087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12280" y="4617720"/>
            <a:ext cx="1783080" cy="548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876288" y="469087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23960" y="4617720"/>
            <a:ext cx="2057400" cy="54864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87968" y="46908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Yes (Year 2)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193792"/>
            <a:ext cx="3154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38328" y="526694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Consumer UX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20440" y="5193792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584448" y="5266944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Basic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66360" y="5193792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230368" y="5266944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Good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12280" y="5193792"/>
            <a:ext cx="1783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76288" y="5266944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Average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23960" y="5193792"/>
            <a:ext cx="2057400" cy="54864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887968" y="5266944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Premium</a:t>
            </a:r>
          </a:p>
        </p:txBody>
      </p:sp>
      <p:sp>
        <p:nvSpPr>
          <p:cNvPr id="85" name="Footer Placeholder 84">
            <a:extLst>
              <a:ext uri="{FF2B5EF4-FFF2-40B4-BE49-F238E27FC236}">
                <a16:creationId xmlns:a16="http://schemas.microsoft.com/office/drawing/2014/main" id="{E3DA78AF-BBFB-1DFB-32BB-8866CA256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53035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1  Q1-Q2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MVP launch — Android + iOS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Core record capture + OCR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ABHA ID linking (manual)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Firebase cloud sync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Target: 10,000 downloads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188720"/>
            <a:ext cx="3657600" cy="53035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2  Q3-Q4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Apply for ABDM HIU certification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Pull records from ABHA ecosystem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Family account management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Health insurance partner integrations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Target: 100,000 MAU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657600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280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3 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874519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ABDM HIP certification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B2B corporate health product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Telemedicine in-app consultations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Diagnostic lab partnerships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•  Target: 1M MAU  |  ₹5Cr ARR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60C060F-C940-DE62-B186-94531DED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C8C"/>
                </a:solidFill>
              </a:rPr>
              <a:t>Seed Round  —  ₹2.5 Crore  (~ $300K USD)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•  40%  —  Product &amp; Engineering (ABDM HIU certification, iOS, offline sync)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•  25%  —  Growth &amp; User Acquisition (Tier 1 &amp; Tier 2 cities)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•  20%  —  Partnerships (Insurance, Diagnostic Labs, Corporate)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•  15%  —  Operations &amp; Compliance (DPDP Act, healthcare regulations)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We are building the consumer experience layer on India's national health infrastructure.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6B838-EE84-BB95-95CE-A34608B2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@ Pankaj Bharti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612" y="1097280"/>
            <a:ext cx="8229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MedRecords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8412" y="2331720"/>
            <a:ext cx="4572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79612" y="251460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5A623"/>
                </a:solidFill>
                <a:latin typeface="Calibri"/>
              </a:rPr>
              <a:t>Your health history — secure, searchable, always with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3932" y="3383281"/>
            <a:ext cx="7680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We're building the personal health data layer that 4 billion
smartphone users in emerging markets don't yet have.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12" y="4572000"/>
            <a:ext cx="4572000" cy="36576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79612" y="475488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AABBCC"/>
                </a:solidFill>
                <a:latin typeface="Calibri"/>
              </a:rPr>
              <a:t>Pre-Seed  ·  MVP Complete  ·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9612" y="5212081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778899"/>
                </a:solidFill>
                <a:latin typeface="Calibri"/>
              </a:rPr>
              <a:t>Firebase Project: medrecords2026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9612" y="630936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657A"/>
                </a:solidFill>
                <a:latin typeface="Calibri"/>
              </a:rPr>
              <a:t>This document contains forward-looking statements for discussion purposes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1121</Words>
  <Application>Microsoft Office PowerPoint</Application>
  <PresentationFormat>Custom</PresentationFormat>
  <Paragraphs>167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Pankaj Kumar Bharti</cp:lastModifiedBy>
  <cp:revision>3</cp:revision>
  <dcterms:created xsi:type="dcterms:W3CDTF">2013-01-27T09:14:16Z</dcterms:created>
  <dcterms:modified xsi:type="dcterms:W3CDTF">2026-03-05T18:12:08Z</dcterms:modified>
  <cp:category/>
</cp:coreProperties>
</file>